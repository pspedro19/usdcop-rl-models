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[30s — Apertura]</a:t>
            </a:r>
          </a:p>
          <a:p/>
          <a:p>
            <a:r>
              <a:t>Saludo: 'Buenos días. Soy Pedro. Con Freddy presentamos GlobalMinds — la plataforma de IA aplicada al mercado cambiario de Latinoamérica.'</a:t>
            </a:r>
          </a:p>
          <a:p/>
          <a:p>
            <a:r>
              <a:t>Hook: 'Tenemos 18 meses construyendo, un sistema en producción HOY, y 4 oportunidades comerciales validadas con datos públicos. En 25 minutos les muestro por qué este es el momento de entrar.'</a:t>
            </a:r>
          </a:p>
          <a:p/>
          <a:p>
            <a:r>
              <a:t>Tono: confiado, directo. No sonreír de más. Pausar 2 segundos antes de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 — El problema]</a:t>
            </a:r>
          </a:p>
          <a:p/>
          <a:p>
            <a:r>
              <a:t>Tres datos memorizar:</a:t>
            </a:r>
          </a:p>
          <a:p/>
          <a:p>
            <a:r>
              <a:t>1. 'Colombia recibió USD 13 mil millones en remesas en 2025 — RÉCORD HISTÓRICO. Marzo solo: USD 1,225 millones en un mes. Esto es un flujo gigante que se convierte ciegamente.'</a:t>
            </a:r>
          </a:p>
          <a:p/>
          <a:p>
            <a:r>
              <a:t>2. 'El último estudio público del Banco de la República muestra que solo el 17% de empresas no financieras usa cobertura FX en Colombia, vs más del 60% en economías avanzadas. Hay 5 mil empresas exportadoras desprotegidas.'</a:t>
            </a:r>
          </a:p>
          <a:p/>
          <a:p>
            <a:r>
              <a:t>3. 'En Binance P2P un solo merchant top mueve hasta USD 200 mil diarios — con un Excel y 4 personas. Cero ML, cero automatización.'</a:t>
            </a:r>
          </a:p>
          <a:p/>
          <a:p>
            <a:r>
              <a:t>Cierre: 'Tres mercados gigantes. Cero IA seria. Ahí es donde entramos.'</a:t>
            </a:r>
          </a:p>
          <a:p/>
          <a:p>
            <a:r>
              <a:t>OJO — si te preguntan por el 17%: 'Es el dato más reciente publicado por Banrep, Borradores 1058. Reconocemos que el universo puede haber cambiado, pero la tendencia se mantiene según estudios sectoriales más recientes.'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 — La oportunidad]</a:t>
            </a:r>
          </a:p>
          <a:p/>
          <a:p>
            <a:r>
              <a:t>'Hay 4 mercados gigantes en Colombia y LATAM que comparten algo: deciden con USD/COP, USD/MXN, USD/BRL — sin ML serio. Son: merchants P2P, PYMES con riesgo FX, casas de cambio que mueven remesas, y freelancers que cobran en USD.'</a:t>
            </a:r>
          </a:p>
          <a:p/>
          <a:p>
            <a:r>
              <a:t>'Combinados representan un mercado direccionable de 50 a 150 millones de dólares anuales en LATAM. Y la cereza: Microsoft y AWS están buscando activamente casos LATAM emblemáticos en fintech con ML — somos el caso que necesitan.'</a:t>
            </a:r>
          </a:p>
          <a:p/>
          <a:p>
            <a:r>
              <a:t>Pausa breve. Mirar a la audiencia.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 — Producto]</a:t>
            </a:r>
          </a:p>
          <a:p/>
          <a:p>
            <a:r>
              <a:t>'Lo primero que necesitan saber: esto NO es una promesa, es producto.'</a:t>
            </a:r>
          </a:p>
          <a:p/>
          <a:p>
            <a:r>
              <a:t>Izquierda — '18 meses de desarrollo. El núcleo USD/COP está en producción hoy. Backtest 2025 — out of sample, walk-forward, auditado: 25.63% de retorno, Sharpe 3.35, p-value 0.006. 82% win rate. Y un componente que es el verdadero MVP: el regime gate que detecta cuándo NO operar — bloqueó 13 de 14 semanas mean-reverting en Q1 2026 y por eso no perdimos plata.'</a:t>
            </a:r>
          </a:p>
          <a:p/>
          <a:p>
            <a:r>
              <a:t>Derecha — 'El mismo motor se aplica a USD/MXN, USD/BRL, USD/CLP. Tenemos 95 mil barras históricas de México y 90 mil de Brasil ya cargadas. La expansión es replicación, no R&amp;D nuevo.'</a:t>
            </a:r>
          </a:p>
          <a:p/>
          <a:p>
            <a:r>
              <a:t>Cierre: 'Mismo CAPEX, 4× mercado.'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 — Arquitectura]</a:t>
            </a:r>
          </a:p>
          <a:p/>
          <a:p>
            <a:r>
              <a:t>Recorrer de arriba a abajo, con calma:</a:t>
            </a:r>
          </a:p>
          <a:p/>
          <a:p>
            <a:r>
              <a:t>'Arriba: ingestamos 4 fuentes — mercado FX en 5-min, 40 indicadores macro, 5 fuentes de noticias bilingües, y análisis IA con GPT-4o + Claude.'</a:t>
            </a:r>
          </a:p>
          <a:p/>
          <a:p>
            <a:r>
              <a:t>'En el centro está el motor: ensemble Ridge + BayesianRidge + XGBoost, con un regime gate basado en Hurst que decide cuándo NO operar, y entrenamiento walk-forward semanal — sin leakage.'</a:t>
            </a:r>
          </a:p>
          <a:p/>
          <a:p>
            <a:r>
              <a:t>'Abajo: el mismo motor genera señales universales que alimentan los 4 productos comerciales. Mismo código, 4 monetizaciones.'</a:t>
            </a:r>
          </a:p>
          <a:p/>
          <a:p>
            <a:r>
              <a:t>'Stack a la derecha: Airflow, MLflow, Postgres con TimescaleDB, FastAPI, Next.js, Docker. Listo para correr en Azure ML, OpenAI, Container Apps — exactamente las piezas que les interesa promover a Microsoft.'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Demo dashboard]</a:t>
            </a:r>
          </a:p>
          <a:p/>
          <a:p>
            <a:r>
              <a:t>'Esto es producto real. Ninguna captura es mockup.'</a:t>
            </a:r>
          </a:p>
          <a:p/>
          <a:p>
            <a:r>
              <a:t>Señalar cada captura:</a:t>
            </a:r>
          </a:p>
          <a:p/>
          <a:p>
            <a:r>
              <a:t>1. Izquierda — Forecasting: 'Aquí ven 9 modelos corriendo con backtests walk-forward por horizonte. Es nuestro model zoo interno.'</a:t>
            </a:r>
          </a:p>
          <a:p/>
          <a:p>
            <a:r>
              <a:t>2. Centro — Backtest 2025: 'Esta es la pantalla que el equipo de aprobación humana revisa antes de promover un modelo a producción. Vote 2 de 2.'</a:t>
            </a:r>
          </a:p>
          <a:p/>
          <a:p>
            <a:r>
              <a:t>3. Derecha — Production: 'Y aquí está la operación 2026 en vivo. El regime gate bloqueando trades cuando no debe operar — eso es lo que nos protegió.'</a:t>
            </a:r>
          </a:p>
          <a:p/>
          <a:p>
            <a:r>
              <a:t>Cierre: '47 API routes, 8 páginas, 27 DAGs en Airflow. Esto es enterprise-grade, no un script de notebook.'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 — Performance]</a:t>
            </a:r>
          </a:p>
          <a:p/>
          <a:p>
            <a:r>
              <a:t>'Esto es lo que separa GlobalMinds de cualquier promesa: datos verificables.'</a:t>
            </a:r>
          </a:p>
          <a:p/>
          <a:p>
            <a:r>
              <a:t>'Línea verde: nuestro modelo. $10,000 iniciales se convierten en $12,563 en 12 meses. Línea roja punteada: buy and hold del USD/COP — termina en $8,552. Diferencia: 40 puntos porcentuales de alpha en un año.'</a:t>
            </a:r>
          </a:p>
          <a:p/>
          <a:p>
            <a:r>
              <a:t>'Sharpe 3.35 — Sharpe institucional. P-value 0.006 — la probabilidad de que esto sea suerte es 6 en mil. Win rate 82.4% en 34 trades.'</a:t>
            </a:r>
          </a:p>
          <a:p/>
          <a:p>
            <a:r>
              <a:t>Caso acertado: 'Semana 18 — Hurst trending fuerte, DXY arriba: SHORT entró, take profit en 4 días, +1.4%.'</a:t>
            </a:r>
          </a:p>
          <a:p>
            <a:r>
              <a:t>Caso fallido (transparencia): 'Semana 36 — shock político no previsto, hard stop, −2.1%. Esto pasa. Lo importante es que el sizing y el regime gate evitaron que fuera 5×.'</a:t>
            </a:r>
          </a:p>
          <a:p/>
          <a:p>
            <a:r>
              <a:t>Si te preguntan por overfitting: 'Walk-forward semanal, expanding window desde 2020. Anti-leakage estricto: macro features T-1, norm_stats solo del train split. Auditado por 10 agentes especializados.'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 — 4 oportunidades]</a:t>
            </a:r>
          </a:p>
          <a:p/>
          <a:p>
            <a:r>
              <a:t>'Cuatro líneas de negocio que comparten el mismo motor de IA, mismo CAPEX, 4× revenue.'</a:t>
            </a:r>
          </a:p>
          <a:p/>
          <a:p>
            <a:r>
              <a:t>Recorrer cada card en orden:</a:t>
            </a:r>
          </a:p>
          <a:p/>
          <a:p>
            <a:r>
              <a:t>1. Bot P2P — 'merchants en Binance moviendo cientos de miles diarios con Excel. USD 99 a 1,500/mes según volumen. Cash flow más rápido. 15 a 25k MRR a 18 meses.'</a:t>
            </a:r>
          </a:p>
          <a:p/>
          <a:p>
            <a:r>
              <a:t>2. Hedging PYMES — 'Kantox para LATAM. Kantox vendió a Visa por 175 millones de euros en 2025. 5 mil PYMES desprotegidas. 60k MRR a 24 meses.'</a:t>
            </a:r>
          </a:p>
          <a:p/>
          <a:p>
            <a:r>
              <a:t>3. Remesas B2B — 'Layer de IA sobre 13 mil millones de dólares anuales. No tocamos al consumidor — vendemos a casas de cambio. 10 a 25k MRR.'</a:t>
            </a:r>
          </a:p>
          <a:p/>
          <a:p>
            <a:r>
              <a:t>4. App freelancers — 'medio millón a un millón de colombianos cobrando en USD. Wise les cobra 1.5%, nosotros les regresamos 1 a 2% con timing IA. 40k MRR a 24 meses.'</a:t>
            </a:r>
          </a:p>
          <a:p/>
          <a:p>
            <a:r>
              <a:t>Cierre: 'No tenemos que escoger una. La arquitectura las soporta todas — el orden de salida lo dicta la velocidad de cash flow.'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 — Datos que validan]</a:t>
            </a:r>
          </a:p>
          <a:p/>
          <a:p>
            <a:r>
              <a:t>Pasar por cada fila rápido, dejando que las cifras hablen:</a:t>
            </a:r>
          </a:p>
          <a:p/>
          <a:p>
            <a:r>
              <a:t>P2P: 'Binance no cobra fees. El spread bruto entre Top 1 y Top 10 es de 1.3 a 3.9%. Esa es la captura.'</a:t>
            </a:r>
          </a:p>
          <a:p/>
          <a:p>
            <a:r>
              <a:t>Hedging: 'Banco de la República — el último estudio público disponible — muestra 17% de penetración. Y Visa pagó 175 millones de euros por Kantox el año pasado, que hace exactamente esto.'</a:t>
            </a:r>
          </a:p>
          <a:p/>
          <a:p>
            <a:r>
              <a:t>Remesas: 'Banco de la República otra vez: 13 mil millones en 2025, récord histórico. Por primera vez en 20 años las remesas superaron a la IED. 53% viene de Estados Unidos — flujo súper estable.'</a:t>
            </a:r>
          </a:p>
          <a:p/>
          <a:p>
            <a:r>
              <a:t>Freelancers: 'Medio millón a un millón de colombianos. Wise les cobra 1.5%. Bre-B con 100 millones de llaves activas elimina la fricción de salida. La infra ya está — nosotros solo orquestamos.'</a:t>
            </a:r>
          </a:p>
          <a:p/>
          <a:p>
            <a:r>
              <a:t>Cada cifra tiene fuente. Slide 23 las lista todas.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Comparables]</a:t>
            </a:r>
          </a:p>
          <a:p/>
          <a:p>
            <a:r>
              <a:t>'No estamos inventando una categoría — la categoría existe y está validada por dinero institucional.'</a:t>
            </a:r>
          </a:p>
          <a:p/>
          <a:p>
            <a:r>
              <a:t>Recorrer rápido:</a:t>
            </a:r>
          </a:p>
          <a:p>
            <a:r>
              <a:t>- 'Kantox: hedging FX para PYMES. Visa la compró por 175 millones de euros en 2025.'</a:t>
            </a:r>
          </a:p>
          <a:p>
            <a:r>
              <a:t>- 'Bound, Neo, Pangea, TreasurUp: todas con Series A activas en el mismo segmento.'</a:t>
            </a:r>
          </a:p>
          <a:p>
            <a:r>
              <a:t>- 'Wise: 11 mil millones de dólares de valuación pública. Remitly: 3 mil millones. Deel: 12 mil millones.'</a:t>
            </a:r>
          </a:p>
          <a:p>
            <a:r>
              <a:t>- 'XTX Markets: el referente global de ML aplicado a market making en FX.'</a:t>
            </a:r>
          </a:p>
          <a:p/>
          <a:p>
            <a:r>
              <a:t>Cierre fuerte: 'NINGUNO de estos opera Colombia con esta propuesta combinada. Nos pueden copiar — pero nosotros llegamos primero, con el motor ya probado.'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Modelo monetización]</a:t>
            </a:r>
          </a:p>
          <a:p/>
          <a:p>
            <a:r>
              <a:t>'Esto es el corazón del modelo financiero: un solo motor — el que ya construimos — alimenta 4 streams independientes.'</a:t>
            </a:r>
          </a:p>
          <a:p/>
          <a:p>
            <a:r>
              <a:t>'Por qué es poderoso: si el bot P2P se demora en escalar, hedging tira. Si hedging requiere ciclo largo de venta corporativo, freelancers viral. Diversificación de riesgo dentro de la misma compañía.'</a:t>
            </a:r>
          </a:p>
          <a:p/>
          <a:p>
            <a:r>
              <a:t>'Cross-sell: el merchant P2P que trabajamos hoy nos da el case study para vender hedging a su importadora hermana.'</a:t>
            </a:r>
          </a:p>
          <a:p/>
          <a:p>
            <a:r>
              <a:t>'Margen SaaS típico 70 a 85%. Y todos los productos son BYOK — Bring Your Own Keys — el cliente paga sus propias APIs de Binance, AWS, etc. Nosotros no asumimos costo variable.'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 — Pricing]</a:t>
            </a:r>
          </a:p>
          <a:p/>
          <a:p>
            <a:r>
              <a:t>'Precios anclados en lo que ya cobran los comparables: Kantox arranca en €299/mes, Bound similar. Wise saca tarifa transaccional pura — nosotros agregamos tier.'</a:t>
            </a:r>
          </a:p>
          <a:p/>
          <a:p>
            <a:r>
              <a:t>Recorrer rápido:</a:t>
            </a:r>
          </a:p>
          <a:p>
            <a:r>
              <a:t>- 'P2P: 99 a 199 para volumen pequeño, 499 a 1,500 para Whales con performance fee.'</a:t>
            </a:r>
          </a:p>
          <a:p>
            <a:r>
              <a:t>- 'Hedging: tier PYME, tier Mid, tier Corporate con revenue share con banco partner.'</a:t>
            </a:r>
          </a:p>
          <a:p>
            <a:r>
              <a:t>- 'Remesas: floor de 2 mil al mes y 10 a 20% de rev share sobre el alpha capturado.'</a:t>
            </a:r>
          </a:p>
          <a:p>
            <a:r>
              <a:t>- 'Freelancers: suscripción + transaccional, modelo Wise + Spotify.'</a:t>
            </a:r>
          </a:p>
          <a:p/>
          <a:p>
            <a:r>
              <a:t>'Margen 70 a 85% es estándar SaaS. BYOK significa cero costo variable. Estos números no requieren capex — solo customer acquisition.'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 — Bot P2P]</a:t>
            </a:r>
          </a:p>
          <a:p/>
          <a:p>
            <a:r>
              <a:t>'Si solo me dejaran vender una de las cuatro, sería esta. Y se las explico.'</a:t>
            </a:r>
          </a:p>
          <a:p/>
          <a:p>
            <a:r>
              <a:t>'Mercado: cero fees de plataforma en Binance P2P. El spread bruto Top 1 vs Top 10 es de 1.3 a 3.9%. Un merchant top mueve hasta USD 200 mil por día.'</a:t>
            </a:r>
          </a:p>
          <a:p/>
          <a:p>
            <a:r>
              <a:t>'Estado actual: estos merchants operan con Excel, 4 personas vigilando pantallas, manualmente. Un solo error humano les cuesta el spread del día.'</a:t>
            </a:r>
          </a:p>
          <a:p/>
          <a:p>
            <a:r>
              <a:t>'Nuestro bot agrega 5 cosas: detección de chargebacks con ML, ajuste dinámico de spread por volatilidad y profundidad, optimización para mantenerse Top 1, plug-and-play (cliente conecta su API y listo), y BYOK.'</a:t>
            </a:r>
          </a:p>
          <a:p/>
          <a:p>
            <a:r>
              <a:t>'Modelo: USD 99 a 1,500/mes según volumen, más performance fee 5 a 10% para los whales.'</a:t>
            </a:r>
          </a:p>
          <a:p/>
          <a:p>
            <a:r>
              <a:t>'Proyección: 25 merchants mid + 3 whales en 18 meses = 15 a 25 mil de MRR limpio. Cero competencia ML hoy en Colombia.'</a:t>
            </a:r>
          </a:p>
          <a:p/>
          <a:p>
            <a:r>
              <a:t>'Por qué es la punta de lanza: los merchants se hablan entre ellos. Si uno gana 1% más al mes, los otros 50 quieren el bot.'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 — Proyección financiera]</a:t>
            </a:r>
          </a:p>
          <a:p/>
          <a:p>
            <a:r>
              <a:t>'Estos números son CONSERVADORES — quiero ser claro. Inversor sofisticado descuenta proyecciones por 50%, así que prefiero subprometer.'</a:t>
            </a:r>
          </a:p>
          <a:p/>
          <a:p>
            <a:r>
              <a:t>Recorrer la curva:</a:t>
            </a:r>
          </a:p>
          <a:p>
            <a:r>
              <a:t>- 'M3-M6: solo P2P generando — 5 a 6k MRR.'</a:t>
            </a:r>
          </a:p>
          <a:p>
            <a:r>
              <a:t>- 'M12: P2P consolidado, hedging arrancando, remesas y freelancers entrando — 25k MRR.'</a:t>
            </a:r>
          </a:p>
          <a:p>
            <a:r>
              <a:t>- 'M24: las 4 líneas corriendo, target 100 a 150k MRR — eso es 1.2 a 1.8 millones ARR.'</a:t>
            </a:r>
          </a:p>
          <a:p/>
          <a:p>
            <a:r>
              <a:t>'Margen 70 a 85% típico SaaS. BYOK garantiza cero costo variable. La banda lima muestra el target M24.'</a:t>
            </a:r>
          </a:p>
          <a:p/>
          <a:p>
            <a:r>
              <a:t>Si te preguntan: '¿qué pasa si una línea no escala?' → 'Por eso tenemos cuatro. Si quitas la peor — supongamos remesas, ciclo de venta más largo — sigues en 75 a 125k. La diversificación interna nos protege.'</a:t>
            </a:r>
          </a:p>
          <a:p/>
          <a:p>
            <a:r>
              <a:t>Si te preguntan ARR: '1.2 a 1.8M ARR a 24 meses con burn modesto. Margen contribución 75% típico.'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Estado actual]</a:t>
            </a:r>
          </a:p>
          <a:p/>
          <a:p>
            <a:r>
              <a:t>'Status check honesto: lo verde está hecho. Lo ámbar está en construcción.'</a:t>
            </a:r>
          </a:p>
          <a:p/>
          <a:p>
            <a:r>
              <a:t>'Hecho: pipeline ML completo en producción, dashboard funcional, backtest auditado, exchanges conectados, regime gate operando en vivo.'</a:t>
            </a:r>
          </a:p>
          <a:p/>
          <a:p>
            <a:r>
              <a:t>'En progreso: bot P2P MVP, hedging MVP, newsletter premium — los tres del primer trimestre del roadmap.'</a:t>
            </a:r>
          </a:p>
          <a:p/>
          <a:p>
            <a:r>
              <a:t>'No vendemos vaporware. Vendemos producto + roadmap claro de comercialización.'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 — Roadmap]</a:t>
            </a:r>
          </a:p>
          <a:p/>
          <a:p>
            <a:r>
              <a:t>'Lectura por swimlane:'</a:t>
            </a:r>
          </a:p>
          <a:p/>
          <a:p>
            <a:r>
              <a:t>'P2P arranca primero — beta en Q2, 25 clientes pagos en Q3, 50 + perf fees en Q4, expansión LATAM en Q1 2027. Cash flow rápido valida la tesis.'</a:t>
            </a:r>
          </a:p>
          <a:p/>
          <a:p>
            <a:r>
              <a:t>'Hedging entra en Q3 con MVP, 10 PYMES piloto en Q4, primer banco partner en Q1 2027.'</a:t>
            </a:r>
          </a:p>
          <a:p/>
          <a:p>
            <a:r>
              <a:t>'Remesas piloto en Q4 con 2 casas de cambio — ciclo de venta largo, por eso lo posicionamos detrás del cash flow del P2P.'</a:t>
            </a:r>
          </a:p>
          <a:p/>
          <a:p>
            <a:r>
              <a:t>'App freelancers: lanzamiento beta cerrada en Q1 2027.'</a:t>
            </a:r>
          </a:p>
          <a:p/>
          <a:p>
            <a:r>
              <a:t>Hitos en círculos lima abajo: 'M3 cierre v2.0 + 6k MRR, M9 25k MRR + Microsoft Founders Hub, M12 banco partner, M15 100-150k MRR + Series Seed.'</a:t>
            </a:r>
          </a:p>
          <a:p/>
          <a:p>
            <a:r>
              <a:t>'Esto NO es un roadmap fantasioso — cada hito tiene OKR concreto y deadline.'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90 días]</a:t>
            </a:r>
          </a:p>
          <a:p/>
          <a:p>
            <a:r>
              <a:t>'Esto es lo que ustedes pueden medir. Si en 90 días no entregamos esto, fallamos.'</a:t>
            </a:r>
          </a:p>
          <a:p/>
          <a:p>
            <a:r>
              <a:t>Mes 1 (Mayo): 'Cerrar Smart v2.0, firmar 5 merchants beta de P2P, deck para Microsoft listo, newsletter live.'</a:t>
            </a:r>
          </a:p>
          <a:p/>
          <a:p>
            <a:r>
              <a:t>Mes 2 (Junio): '10 clientes pagos de P2P, primer piloto hedging PYME, aplicación a Microsoft for Startups, outreach a 5 casas de cambio.'</a:t>
            </a:r>
          </a:p>
          <a:p/>
          <a:p>
            <a:r>
              <a:t>Mes 3 (Julio): 'MRR 5k+, créditos Azure asegurados, primer prospecto formal de casa de cambio.'</a:t>
            </a:r>
          </a:p>
          <a:p/>
          <a:p>
            <a:r>
              <a:t>'Si en 90 días tienen un follow-up con nosotros, ya van a poder revisar contra esta lista. Esa es nuestra propuesta de accountability.'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Pedido a Microsoft]</a:t>
            </a:r>
          </a:p>
          <a:p/>
          <a:p>
            <a:r>
              <a:t>'4 pedidos concretos, sin enredos:'</a:t>
            </a:r>
          </a:p>
          <a:p/>
          <a:p>
            <a:r>
              <a:t>1. 'Créditos Azure: aplicación a Founders Hub, hasta 150 mil dólares. Esto cubre nuestra infra de ML por 18 meses.'</a:t>
            </a:r>
          </a:p>
          <a:p/>
          <a:p>
            <a:r>
              <a:t>2. 'Co-selling LATAM: introducción a 3 clientes en bancos, casas de cambio, o PYMES grandes. Una sola intro nos puede convertir un piloto en contrato anual.'</a:t>
            </a:r>
          </a:p>
          <a:p/>
          <a:p>
            <a:r>
              <a:t>3. 'Soporte técnico: arquitecto Azure ML + Azure OpenAI dedicado. Migración rápida y sin tropiezos.'</a:t>
            </a:r>
          </a:p>
          <a:p/>
          <a:p>
            <a:r>
              <a:t>4. 'Visibilidad: caso de éxito documentado para Microsoft for Startups en LATAM — todos ganamos.'</a:t>
            </a:r>
          </a:p>
          <a:p/>
          <a:p>
            <a:r>
              <a:t>'Es un partnership, no un cheque. Por eso vamos a la siguiente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 — Lo que ofrecemos]</a:t>
            </a:r>
          </a:p>
          <a:p/>
          <a:p>
            <a:r>
              <a:t>'Esto no es asimétrico — Microsoft también gana:'</a:t>
            </a:r>
          </a:p>
          <a:p/>
          <a:p>
            <a:r>
              <a:t>1. 'Caso de éxito en LATAM: ustedes están buscando casos emblemáticos para Microsoft for Startups en la región. Nosotros los aspiramos a ser ese caso.'</a:t>
            </a:r>
          </a:p>
          <a:p/>
          <a:p>
            <a:r>
              <a:t>2. 'Migramos stack completo a Azure: Container Apps, Azure ML, Azure OpenAI, Functions. Arquitectura que pueden usar como referencia.'</a:t>
            </a:r>
          </a:p>
          <a:p/>
          <a:p>
            <a:r>
              <a:t>3. 'Cobranding: GlobalMinds powered by Microsoft Azure visible en cada deck, evento, web.'</a:t>
            </a:r>
          </a:p>
          <a:p/>
          <a:p>
            <a:r>
              <a:t>4. 'Pipeline de leads — cada banco o casa de cambio que cerramos como cliente, automáticamente entra en el pipeline corporativo de Microsoft. Win-win.'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 — Equipo]</a:t>
            </a:r>
          </a:p>
          <a:p/>
          <a:p>
            <a:r>
              <a:t>'Dos co-founders, perfiles complementarios:'</a:t>
            </a:r>
          </a:p>
          <a:p/>
          <a:p>
            <a:r>
              <a:t>Pedro: 'Soy yo. CTO. Senior Data Analyst y MLOps Engineer con experiencia en Aera Energy, CRC, CODALTEC en el proyecto satelital FACSAT-2, y Vault Insurance. Certificado Azure AI-102. El motor de IA que vieron es mío de punta a punta.'</a:t>
            </a:r>
          </a:p>
          <a:p/>
          <a:p>
            <a:r>
              <a:t>Freddy: 'Mi co-fundador. CEO. Lleva las relaciones comerciales — su red en bancos y casas de cambio en Colombia es lo que abre las puertas que un perfil técnico no puede abrir solo. Ciclo completo de venta B2B.'</a:t>
            </a:r>
          </a:p>
          <a:p/>
          <a:p>
            <a:r>
              <a:t>'Equipo de 2 hoy. Roadmap incluye 1 senior engineer en Q3 cuando bot P2P escale.'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 — Tracción]</a:t>
            </a:r>
          </a:p>
          <a:p/>
          <a:p>
            <a:r>
              <a:t>'Cierro con los datos duros que un inversor mira:'</a:t>
            </a:r>
          </a:p>
          <a:p/>
          <a:p>
            <a:r>
              <a:t>'18 meses de desarrollo. Backtest 2025 OOS: 25.63% con p-value 0.006. Sharpe 3.35. Win rate 82.4% en 34 trades. 4 productos en roadmap activo.'</a:t>
            </a:r>
          </a:p>
          <a:p/>
          <a:p>
            <a:r>
              <a:t>'Y debajo: backtest auditado con metodología walk-forward, sistema en producción con datos reales — 25 servicios Docker, comparables internacionales validan precio entre 175 millones de euros y 12 mil millones de dólares, regime gate bloqueó 13 de 14 semanas mean-reverting en Q1 2026 protegiéndonos del crash.'</a:t>
            </a:r>
          </a:p>
          <a:p/>
          <a:p>
            <a:r>
              <a:t>'No estoy vendiéndoles humo — les estoy vendiendo evidencia.'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 — Cierre]</a:t>
            </a:r>
          </a:p>
          <a:p/>
          <a:p>
            <a:r>
              <a:t>'Tres asks claros — uno por audiencia:'</a:t>
            </a:r>
          </a:p>
          <a:p/>
          <a:p>
            <a:r>
              <a:t>1. 'Microsoft: queremos aplicar a Founders Hub esta semana y agendar reunión técnica con el equipo de Azure ML.'</a:t>
            </a:r>
          </a:p>
          <a:p/>
          <a:p>
            <a:r>
              <a:t>2. 'A los contactos comerciales: ofrecemos un piloto de 60 días GRATUITO a 3 clientes elegidos por ustedes — 1 PYME, 1 merchant P2P, 1 casa de cambio.'</a:t>
            </a:r>
          </a:p>
          <a:p/>
          <a:p>
            <a:r>
              <a:t>3. 'A inversores: acceso temprano a ronda Seed planificada para Q4 2026. Ticket mínimo 25k. Si están interesados, conversación esta semana.'</a:t>
            </a:r>
          </a:p>
          <a:p/>
          <a:p>
            <a:r>
              <a:t>'Mi correo está aquí. Mi compromiso: respondo en menos de 24 horas a cualquier follow-up de esta sala.'</a:t>
            </a:r>
          </a:p>
          <a:p/>
          <a:p>
            <a:r>
              <a:t>Disclaimer (importante leer si la audiencia es estricta): 'Por compliance: GlobalMinds no constituye asesoría financiera. Performance pasada no garantiza futura. Hay riesgo de pérdida de capital. Esto es prospecto de partnership, no recomendación de inversión.'</a:t>
            </a:r>
          </a:p>
          <a:p/>
          <a:p>
            <a:r>
              <a:t>Pausa de 3 segundos. Mirar a la audiencia. Sonreír. 'Gracias.'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[Apéndice — backup para preguntas]</a:t>
            </a:r>
          </a:p>
          <a:p/>
          <a:p>
            <a:r>
              <a:t>Esta slide NO se presenta — está para responder preguntas del tipo 'de dónde sacaste ese dato'.</a:t>
            </a:r>
          </a:p>
          <a:p/>
          <a:p>
            <a:r>
              <a:t>Tener a mano el SOURCES.md por si piden URLs específicas.</a:t>
            </a:r>
          </a:p>
          <a:p/>
          <a:p>
            <a:r>
              <a:t>Datos sensibles a defender:</a:t>
            </a:r>
          </a:p>
          <a:p>
            <a:r>
              <a:t>- 17% cobertura FX: estudio Banrep, fecha del paper. Reconocer que es lo más reciente público.</a:t>
            </a:r>
          </a:p>
          <a:p>
            <a:r>
              <a:t>- USD 13B remesas: cifra Banrep 2025. Récord histórico.</a:t>
            </a:r>
          </a:p>
          <a:p>
            <a:r>
              <a:t>- Kantox/Visa €175M: confirmado por Visa Newsroom + TechCrunch + Diario El País 2025.</a:t>
            </a:r>
          </a:p>
          <a:p>
            <a:r>
              <a:t>- Comparables Wise/Remitly/Deel: información pública de mercados bursátiles + Pitchbook.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El mercado cambiario LATAM mueve billones diarios — sin IA seria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34D399"/>
                </a:solidFill>
                <a:latin typeface="Inter"/>
              </a:rPr>
              <a:t>USD 13,098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remesas Colombia 2025 (récord histórico) convertidas a TRM del día, sin optimización de timing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659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0A5FA"/>
                </a:solidFill>
                <a:latin typeface="Inter"/>
              </a:rPr>
              <a:t>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889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de empresas no financieras colombianas usa derivados de cobertura FX (último estudio público disponible Banco de la República)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519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Inter"/>
              </a:rPr>
              <a:t>USD 50–200k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diarios mueve cada merchant top de Binance P2P Colombia — con Excel y 4 personas, cero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25196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87171"/>
                </a:solidFill>
                <a:latin typeface="Inter"/>
              </a:rPr>
              <a:t>Decenas de M COP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035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ter"/>
              </a:rPr>
              <a:t>le cuesta una operación mal cronometrada a una PYME exportadora promedio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La oportunidad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4 mercados sin atender · 1 sola plataforma de IA · TAM USD 50–150M LATAM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806440" cy="11887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Merchants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77439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Cientos de merchants moviendo USD 5–200k/día sin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806440" cy="11887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77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148840"/>
            <a:ext cx="365760" cy="3657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PYMES con riesgo FX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39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5,000+ exportadoras/importadoras desprotegidas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5806440" cy="11887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Casas de cambio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49039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USD 13B/año en remesas convertidas sin optimización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108960"/>
            <a:ext cx="5806440" cy="11887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778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520440"/>
            <a:ext cx="365760" cy="3657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Freelancers cobrando 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49039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500k–1M colombianos pierden 1.5–3% en Wise/Payoneer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2540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5FF4A"/>
                </a:solidFill>
                <a:latin typeface="Inter"/>
              </a:rPr>
              <a:t>TAM combinado en Latinoamérica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USD 50–150M anuales — y Microsoft / AWS buscan casos LATAM emblemáticos en fintech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¿Qué construimos?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Sistema end-to-end de ML + RL · 18 meses · en producción hoy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2540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5FF4A"/>
                </a:solidFill>
                <a:latin typeface="Inter"/>
              </a:rPr>
              <a:t>Núcleo USD/COP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Inter"/>
              </a:rPr>
              <a:t>Validado en producción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72968"/>
            <a:ext cx="164592" cy="164592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Backtest 2025 OOS: +25.63% / Sharpe 3.35 / p = 0.006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21608"/>
            <a:ext cx="164592" cy="164592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82.4% win rate · 34 trades · maxDD 6.12%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70248"/>
            <a:ext cx="164592" cy="164592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Walk-forward weekly retraining (anti-leakage)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818888"/>
            <a:ext cx="164592" cy="164592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5487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Regime gate (Hurst): bloqueó 13 de 14 semanas mean-reverting Q1 2026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367527"/>
            <a:ext cx="164592" cy="164592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0351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Buy &amp; hold mismo período: −14.48%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373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0A5FA"/>
                </a:solidFill>
                <a:latin typeface="Inter"/>
              </a:rPr>
              <a:t>Expansión LATAM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Inter"/>
              </a:rPr>
              <a:t>Mismo motor — pares vecinos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172968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USD/MXN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México · 95K bars históricos listos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721608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657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USD/BRL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Brasil · 90K bars históricos listos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270248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USD/CLP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Chile · roadmap Q3 2026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818888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7548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USD/PEN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5487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Perú · roadmap Q4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Arquitectura: 1 motor → 4 productos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Enterprise-grade · cloud-ready (Azure / AWS / GCP)</a:t>
            </a:r>
          </a:p>
        </p:txBody>
      </p:sp>
      <p:pic>
        <p:nvPicPr>
          <p:cNvPr id="5" name="Picture 4" descr="0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288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Producto en producción · capturas reales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Dashboard Next.js · datos reales · sin mockups</a:t>
            </a:r>
          </a:p>
        </p:txBody>
      </p:sp>
      <p:pic>
        <p:nvPicPr>
          <p:cNvPr id="5" name="Picture 4" descr="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3703320" cy="20831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3977639"/>
            <a:ext cx="3703320" cy="5029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069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5FF4A"/>
                </a:solidFill>
                <a:latin typeface="Inter"/>
              </a:rPr>
              <a:t>FORECASTING — model zoo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91640"/>
            <a:ext cx="3703320" cy="208311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3977639"/>
            <a:ext cx="3703320" cy="5029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4069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5FF4A"/>
                </a:solidFill>
                <a:latin typeface="Inter"/>
              </a:rPr>
              <a:t>BACKTEST 2025 — KPIs + trades</a:t>
            </a:r>
          </a:p>
        </p:txBody>
      </p:sp>
      <p:pic>
        <p:nvPicPr>
          <p:cNvPr id="11" name="Picture 10" descr="pro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91640"/>
            <a:ext cx="3703320" cy="208311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2440" y="3977639"/>
            <a:ext cx="3703320" cy="5029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06908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5FF4A"/>
                </a:solidFill>
                <a:latin typeface="Inter"/>
              </a:rPr>
              <a:t>PRODUCTION — 2026 YTD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709160"/>
            <a:ext cx="11384280" cy="15544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C5FF4A"/>
                </a:solidFill>
                <a:latin typeface="Inter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API routes activas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920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C5FF4A"/>
                </a:solidFill>
                <a:latin typeface="Inter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623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páginas Next.js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920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C5FF4A"/>
                </a:solidFill>
                <a:latin typeface="Inter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623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servicios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48920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C5FF4A"/>
                </a:solidFill>
                <a:latin typeface="Inter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5623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Inter"/>
              </a:rPr>
              <a:t>DAGs Airflow productivos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Performance auditada — backtest 2025 OOS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Out-of-sample real · walk-forward · sin look-ahead bias</a:t>
            </a:r>
          </a:p>
        </p:txBody>
      </p:sp>
      <p:pic>
        <p:nvPicPr>
          <p:cNvPr id="5" name="Picture 4" descr="07_equity_curve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3570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Las 4 oportunidades validadas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1 motor de IA · 4 mercados sin atender · USD 50–150M TAM LATAM</a:t>
            </a:r>
          </a:p>
        </p:txBody>
      </p:sp>
      <p:pic>
        <p:nvPicPr>
          <p:cNvPr id="5" name="Picture 4" descr="08_opport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4247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Datos públicos que validan cada mercado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Cifras verificables · fuentes oficiales · ningún supuesto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P2P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91640"/>
            <a:ext cx="8961120" cy="1051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74520"/>
            <a:ext cx="8595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Binance cero fees · spread 1.3–3.9% bruto Top1 vs Top10 · merchants top USD 50–200k/día con 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Hedging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880360"/>
            <a:ext cx="8961120" cy="1051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063240"/>
            <a:ext cx="8595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Solo 17% de empresas no financieras COL usa derivados FX (estudio Banco de la República). Comparable: Kantox vendida a Visa por €175M (2025).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6908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Remesas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4069080"/>
            <a:ext cx="8961120" cy="1051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251960"/>
            <a:ext cx="8595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USD 13,098M en 2025 — récord histórico (Banco de la República). 1.6× la IED en Q1 2026. 2.1M receptores. 53% origen EE.UU.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5780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Freelancers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257800"/>
            <a:ext cx="8961120" cy="1051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5440680"/>
            <a:ext cx="8595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500k–1M colombianos cobrando USD desde Upwork, Deel, Fiverr, Remote. Wise cobra 1.5%, Payoneer 2–3%. Bre-B (&gt;100M llaves) reduce fricción de salida a COP.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Comparables internacionales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Validación con valuaciones reales — ninguno opera Colombia con esta propuesta</a:t>
            </a:r>
          </a:p>
        </p:txBody>
      </p:sp>
      <p:pic>
        <p:nvPicPr>
          <p:cNvPr id="5" name="Picture 4" descr="10_compar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427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4 motores de ingreso · 1 solo motor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Mismo CAPEX · 4× revenue · diversificación · cross-sell</a:t>
            </a:r>
          </a:p>
        </p:txBody>
      </p:sp>
      <p:pic>
        <p:nvPicPr>
          <p:cNvPr id="5" name="Picture 4" descr="11_revenue_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427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Pricing por línea de 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Anclado en comparables internacionales · tiered por volumen</a:t>
            </a:r>
          </a:p>
        </p:txBody>
      </p:sp>
      <p:pic>
        <p:nvPicPr>
          <p:cNvPr id="5" name="Picture 4" descr="12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427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Bot P2P — Punta de lanza 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El producto con cash flow más rápido y mercado más virgen</a:t>
            </a:r>
          </a:p>
        </p:txBody>
      </p:sp>
      <p:pic>
        <p:nvPicPr>
          <p:cNvPr id="5" name="Picture 4" descr="13_p2p_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427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Proyección financiera 24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Escenario conservador · 4 líneas en paralelo · BYOK = 0 costo variable</a:t>
            </a:r>
          </a:p>
        </p:txBody>
      </p:sp>
      <p:pic>
        <p:nvPicPr>
          <p:cNvPr id="5" name="Picture 4" descr="14_mrr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110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Dónde estamos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Cierre del núcleo · 4 productos en construcción paralela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411480" cy="41148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Pipeline L0–L7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945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27 DAGs Airflow productivos, retraining semanal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965960"/>
            <a:ext cx="411480" cy="41148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28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Dashboard Next.js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945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8 páginas, 47 API routes, datos reales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108960"/>
            <a:ext cx="411480" cy="41148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71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Smart v2.0 backtest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375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+25.63% / Sharpe 3.35 / p = 0.006 (validado)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834640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3108960"/>
            <a:ext cx="411480" cy="41148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71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Conexión Binance + MEXC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3375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operativa para ejecución (paper / testnet / live)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39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4251959"/>
            <a:ext cx="411480" cy="41148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2519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114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Regime Gate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48055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13/14 semanas mean-reverting bloqueadas Q1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977639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0" y="4251959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519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114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Bot P2P MVP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48055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5 merchants beta — mes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20640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5394959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949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257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Hedging MVP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62355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diseño + 1 PYME piloto — mes 2-3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5120640"/>
            <a:ext cx="5806440" cy="9601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0" y="5394959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3949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1426"/>
                </a:solidFill>
                <a:latin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257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Newsletter premium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62355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USD 99/mes — mes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Roadmap 12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Q2 2026 → Q1 2027 · 4 swimlanes paralelos · ejecución secuencial inteligente</a:t>
            </a:r>
          </a:p>
        </p:txBody>
      </p:sp>
      <p:pic>
        <p:nvPicPr>
          <p:cNvPr id="5" name="Picture 4" descr="16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149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Próximos 90 días — hitos críticos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Lo que vamos a entregar antes del 31 de Julio 2026</a:t>
            </a:r>
          </a:p>
        </p:txBody>
      </p:sp>
      <p:pic>
        <p:nvPicPr>
          <p:cNvPr id="5" name="Picture 4" descr="17_milestones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564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¿Qué necesitamos de Microsoft?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4 pedidos concretos · ROI visible para ambos lados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  <a:latin typeface="Inter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82880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99339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Créditos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77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Founders Hub: hasta USD 150k para correr ML/OpenAI/Container Apps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08960"/>
            <a:ext cx="777240" cy="77724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  <a:latin typeface="Inter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97180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13639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Co-selling LATAM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520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Introducción a clientes corporativos: bancos, casas de cambio, PYMES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51960"/>
            <a:ext cx="777240" cy="7772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  <a:latin typeface="Inter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411480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27939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Soporte técnico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663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Azure ML + Azure OpenAI · arquitecto solutions dedicado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394960"/>
            <a:ext cx="777240" cy="7772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B1426"/>
                </a:solidFill>
                <a:latin typeface="Inter"/>
              </a:rP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525780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542239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Visibilidad LATAM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806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Caso de éxito conjunto en eventos, blog, casos Microsoft for Startups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¿Qué ofrecemos a Microsoft?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Caso de éxito LATAM en fintech ML · pipeline de leads · cobranding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1019556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Caso de éxito documentado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Microsoft for Startups LATAM en fintech ML — story público con métricas reales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971800"/>
            <a:ext cx="1019556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136392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Migración stack a 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Container Apps + Azure ML + Azure OpenAI + Functions — arquitectura referencia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9768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114800"/>
            <a:ext cx="1019556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279392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Cobranding en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63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GlobalMinds powered by Microsoft Azure en website, decks, eventos LATAM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440680"/>
            <a:ext cx="640080" cy="6400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426"/>
                </a:solidFill>
                <a:latin typeface="Inter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5257800"/>
            <a:ext cx="10195560" cy="100584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5422392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Pipeline de leads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06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Cada cliente que cerramos en bancos / casas de cambio / PYMES = lead corporativo Microsoft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Equipo fundador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Stack técnico + tracción comercial · 18 meses construyendo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806440" cy="4480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2032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03120"/>
            <a:ext cx="1097280" cy="1097280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B1426"/>
                </a:solidFill>
                <a:latin typeface="Inter"/>
              </a:rPr>
              <a:t>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1488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Pedro Sánchez Briceño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606039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5FF4A"/>
                </a:solidFill>
                <a:latin typeface="Inter"/>
              </a:rPr>
              <a:t>Co-founder &amp;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Senior Data Analyst / MLOps Engineer · Azure AI-102 certified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54864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270248"/>
            <a:ext cx="109728" cy="109728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Aera Energy — Senior Data Analyst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681728"/>
            <a:ext cx="109728" cy="109728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CRC — Análisis cuantitativo regulatorio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093208"/>
            <a:ext cx="109728" cy="109728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CODALTEC — FACSAT-2 (proyecto satelital)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504688"/>
            <a:ext cx="109728" cy="109728"/>
          </a:xfrm>
          <a:prstGeom prst="ellipse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Vault Insurance — MLOps en producción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737360"/>
            <a:ext cx="5806440" cy="448056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2032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0840" y="2103120"/>
            <a:ext cx="1097280" cy="10972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10312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0B1426"/>
                </a:solidFill>
                <a:latin typeface="Inter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1488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Freddy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606039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0A5FA"/>
                </a:solidFill>
                <a:latin typeface="Inter"/>
              </a:rPr>
              <a:t>Co-founder &amp; CEO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429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Inter"/>
              </a:rPr>
              <a:t>Estrategia comercial · Red de contactos corporativos 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977639"/>
            <a:ext cx="54864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0840" y="4270248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206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Liderazgo comercial sector financiero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4681728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Red activa en bancos y casas de cambio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5093208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5029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Ciclo completo de venta B2B y partnerships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5504688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5440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Comunicación ejecutiva con C-level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Tracción y validación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18 meses construyendo · producción real · 4 oportunidades validadas</a:t>
            </a:r>
          </a:p>
        </p:txBody>
      </p:sp>
      <p:pic>
        <p:nvPicPr>
          <p:cNvPr id="5" name="Picture 4" descr="21_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6427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Lo que pedimos esta semana · cómo seguir conversando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426"/>
                </a:solidFill>
                <a:latin typeface="Inter"/>
              </a:rP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7452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Aplicar a Microsoft for Startups Founders Hub · reunión técnica con Azure ML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426"/>
                </a:solidFill>
                <a:latin typeface="Inter"/>
              </a:rPr>
              <a:t>Contactos comerciales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Piloto 60 días GRATUITO · 3 clientes elegidos (1 PYME, 1 merchant P2P, 1 casa de cambio)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426"/>
                </a:solidFill>
                <a:latin typeface="Inter"/>
              </a:rPr>
              <a:t>Inversores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77640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Inter"/>
              </a:rPr>
              <a:t>Acceso temprano a ronda Seed Q4 2026 · ticket mínimo USD 25k · valuación SAFE post-money TBD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11292840" cy="73152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C5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📧  pspedroelias96@gmail.com    ·    🔗  globalminds.ai (en construcción)    ·    📅  Agendemos follow-up esta semana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92840" cy="594360"/>
          </a:xfrm>
          <a:prstGeom prst="roundRect">
            <a:avLst>
              <a:gd name="adj" fmla="val 8000"/>
            </a:avLst>
          </a:prstGeom>
          <a:solidFill>
            <a:srgbClr val="0B1426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Inter"/>
              </a:rPr>
              <a:t>⚠  GlobalMinds NO constituye asesoría financiera. Resultados pasados NO garantizan resultados futuros. El uso de los productos implica riesgo de pérdida de capital.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Apéndice — Fuentes y 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731520" cy="31750"/>
          </a:xfrm>
          <a:prstGeom prst="rect">
            <a:avLst/>
          </a:prstGeom>
          <a:solidFill>
            <a:srgbClr val="C5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Cifras públicas y verificables citadas en este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Banco de la República — Remesas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USD 13,098 M en 2025 (récord) · banrep.gov.co/es/estadisticas/remesas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Banco de la República — Borradores 1058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17% de empresas no financieras con cobertura FX · banrep.gov.co/es/borrador-1058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3075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Visa adquiere Kantox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€175M (2025) · visa.com/newsroom · TechCrunch · El País Negocios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Bre-B — Pagos Instantáneos Colombia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&gt;100M de llaves activas · banrep.gov.co/bre-b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3212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509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Backtest GlobalMinds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Smart Simple v2.0 OOS · Walk-forward · summary_2025.json (auditado)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69164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81051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Wise — Capitalización pública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488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USD 11B · wise.com/investor-relations · LSE: WISE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65176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7063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Remitly — Capitalización pública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089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USD 3B · NASDAQ: RELY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61188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73075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Deel — Última ronda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0690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USD 12B · pitchbook.com · TechCrunch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57200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69087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Binance P2P — Spread y fees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0292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0% fees · binance.com/p2p · MetaReporte (calculadora)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53212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6509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FF4A"/>
                </a:solidFill>
                <a:latin typeface="Inter"/>
              </a:rPr>
              <a:t>XTX Markets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9893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Líder global ML market making FX · xtxmarkets.com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Lista completa con URLs activas en SOURCES.md (incluido en el paquete del deck).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Confidencial · GlobalMinds · Mayo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